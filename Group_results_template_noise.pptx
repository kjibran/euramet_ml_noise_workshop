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handoutMasterIdLst>
    <p:handoutMasterId r:id="rId9"/>
  </p:handoutMasterIdLst>
  <p:sldIdLst>
    <p:sldId id="268" r:id="rId5"/>
    <p:sldId id="271" r:id="rId14"/>
    <p:sldId id="272" r:id="rId15"/>
    <p:sldId id="273" r:id="rId16"/>
    <p:sldId id="274" r:id="rId17"/>
    <p:sldId id="275" r:id="rId18"/>
    <p:sldId id="270" r:id="rId7"/>
  </p:sldIdLst>
  <p:sldSz cx="12192000" cy="6858000"/>
  <p:notesSz cx="6858000" cy="9144000"/>
  <p:defaultTextStyle>
    <a:defPPr>
      <a:defRPr lang="en-GB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61" autoAdjust="0"/>
    <p:restoredTop sz="94660"/>
  </p:normalViewPr>
  <p:slideViewPr>
    <p:cSldViewPr snapToGrid="0">
      <p:cViewPr varScale="1">
        <p:scale>
          <a:sx n="68" d="100"/>
          <a:sy n="68" d="100"/>
        </p:scale>
        <p:origin x="48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2692" y="5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138A0-FDC0-447C-96F9-4DA0936ED297}" type="datetimeFigureOut">
              <a:rPr lang="fr-FR" smtClean="0"/>
              <a:t>15/09/2026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BE81FF-5F96-4DA4-B271-80B01D1894C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62133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903FA6-1384-4D53-AEB7-40DB02C4BA45}" type="datetimeFigureOut">
              <a:rPr lang="en-GB" smtClean="0"/>
              <a:t>15/09/2026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EAE34A-9EAE-4C32-9568-1464FD61B6D0}" type="slidenum">
              <a:rPr lang="en-GB" smtClean="0"/>
              <a:t>‹N°›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5424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4.jpe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jpe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10.png"/><Relationship Id="rId4" Type="http://schemas.openxmlformats.org/officeDocument/2006/relationships/image" Target="../media/image4.jpeg"/><Relationship Id="rId5" Type="http://schemas.openxmlformats.org/officeDocument/2006/relationships/image" Target="../media/image5.png"/><Relationship Id="rId6" Type="http://schemas.openxmlformats.org/officeDocument/2006/relationships/image" Target="../media/image1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10.png"/><Relationship Id="rId4" Type="http://schemas.openxmlformats.org/officeDocument/2006/relationships/image" Target="../media/image4.jpeg"/><Relationship Id="rId5" Type="http://schemas.openxmlformats.org/officeDocument/2006/relationships/image" Target="../media/image5.png"/><Relationship Id="rId6" Type="http://schemas.openxmlformats.org/officeDocument/2006/relationships/image" Target="../media/image1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10.png"/><Relationship Id="rId4" Type="http://schemas.openxmlformats.org/officeDocument/2006/relationships/image" Target="../media/image4.jpeg"/><Relationship Id="rId5" Type="http://schemas.openxmlformats.org/officeDocument/2006/relationships/image" Target="../media/image5.png"/><Relationship Id="rId6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10.png"/><Relationship Id="rId4" Type="http://schemas.openxmlformats.org/officeDocument/2006/relationships/image" Target="../media/image4.jpeg"/><Relationship Id="rId5" Type="http://schemas.openxmlformats.org/officeDocument/2006/relationships/image" Target="../media/image5.png"/><Relationship Id="rId6" Type="http://schemas.openxmlformats.org/officeDocument/2006/relationships/image" Target="../media/image1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10.png"/><Relationship Id="rId4" Type="http://schemas.openxmlformats.org/officeDocument/2006/relationships/image" Target="../media/image4.jpeg"/><Relationship Id="rId5" Type="http://schemas.openxmlformats.org/officeDocument/2006/relationships/image" Target="../media/image5.png"/><Relationship Id="rId6" Type="http://schemas.openxmlformats.org/officeDocument/2006/relationships/image" Target="../media/image1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10.png"/><Relationship Id="rId4" Type="http://schemas.openxmlformats.org/officeDocument/2006/relationships/image" Target="../media/image4.jpeg"/><Relationship Id="rId5" Type="http://schemas.openxmlformats.org/officeDocument/2006/relationships/image" Target="../media/image5.png"/><Relationship Id="rId6" Type="http://schemas.openxmlformats.org/officeDocument/2006/relationships/image" Target="../media/image1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13.jpeg"/><Relationship Id="rId4" Type="http://schemas.openxmlformats.org/officeDocument/2006/relationships/image" Target="../media/image9.jpeg"/><Relationship Id="rId5" Type="http://schemas.openxmlformats.org/officeDocument/2006/relationships/image" Target="../media/image10.png"/><Relationship Id="rId6" Type="http://schemas.openxmlformats.org/officeDocument/2006/relationships/image" Target="../media/image4.jpeg"/><Relationship Id="rId7" Type="http://schemas.openxmlformats.org/officeDocument/2006/relationships/image" Target="../media/image5.png"/><Relationship Id="rId8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47414" y="3914263"/>
            <a:ext cx="6405110" cy="124731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i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GB" dirty="0"/>
          </a:p>
        </p:txBody>
      </p:sp>
      <p:sp>
        <p:nvSpPr>
          <p:cNvPr id="5" name="hc">
            <a:extLst>
              <a:ext uri="{FF2B5EF4-FFF2-40B4-BE49-F238E27FC236}">
                <a16:creationId xmlns:a16="http://schemas.microsoft.com/office/drawing/2014/main" id="{4375FB5F-AA30-47FD-8ADE-37A76490C165}"/>
              </a:ext>
            </a:extLst>
          </p:cNvPr>
          <p:cNvSpPr txBox="1"/>
          <p:nvPr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endParaRPr kumimoji="0" lang="en-GB" sz="1000" b="0" i="0" u="none" baseline="0" dirty="0">
              <a:solidFill>
                <a:srgbClr val="7F7F7F"/>
              </a:solidFill>
              <a:latin typeface="Arial" panose="020B0604020202020204" pitchFamily="34" charset="0"/>
            </a:endParaRPr>
          </a:p>
        </p:txBody>
      </p:sp>
      <p:sp>
        <p:nvSpPr>
          <p:cNvPr id="6" name="fc">
            <a:extLst>
              <a:ext uri="{FF2B5EF4-FFF2-40B4-BE49-F238E27FC236}">
                <a16:creationId xmlns:a16="http://schemas.microsoft.com/office/drawing/2014/main" id="{9C289747-70E1-4B1A-ABC8-29B2329A8339}"/>
              </a:ext>
            </a:extLst>
          </p:cNvPr>
          <p:cNvSpPr txBox="1"/>
          <p:nvPr/>
        </p:nvSpPr>
        <p:spPr>
          <a:xfrm>
            <a:off x="9364538" y="12455768"/>
            <a:ext cx="3437040" cy="8628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endParaRPr kumimoji="0" lang="en-GB" sz="1000" b="0" i="0" u="none" baseline="0" dirty="0">
              <a:solidFill>
                <a:srgbClr val="7F7F7F"/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2" descr="PPT Image 2.jpg">
            <a:extLst>
              <a:ext uri="{FF2B5EF4-FFF2-40B4-BE49-F238E27FC236}">
                <a16:creationId xmlns:a16="http://schemas.microsoft.com/office/drawing/2014/main" id="{D144C6C8-5BC8-4C43-A4EA-FEE0D17087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3878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EURAMET A4.jpg">
            <a:extLst>
              <a:ext uri="{FF2B5EF4-FFF2-40B4-BE49-F238E27FC236}">
                <a16:creationId xmlns:a16="http://schemas.microsoft.com/office/drawing/2014/main" id="{91585889-3311-4284-801B-AAA86FB98A8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7668" y="0"/>
            <a:ext cx="2520973" cy="1427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Fueling Dreams: EU-Financed Programs Empowering ...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3718" y="5665085"/>
            <a:ext cx="3454923" cy="1381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/>
          <p:cNvSpPr txBox="1">
            <a:spLocks/>
          </p:cNvSpPr>
          <p:nvPr userDrawn="1"/>
        </p:nvSpPr>
        <p:spPr>
          <a:xfrm>
            <a:off x="4611241" y="3073961"/>
            <a:ext cx="7431227" cy="1035260"/>
          </a:xfrm>
          <a:prstGeom prst="rect">
            <a:avLst/>
          </a:prstGeo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 b="1" i="0" kern="1200" baseline="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1pPr>
            <a:lvl2pPr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r>
              <a:rPr lang="en-US" sz="1800" b="0" i="0" dirty="0"/>
              <a:t>Autumn School</a:t>
            </a:r>
            <a:r>
              <a:rPr lang="en-US" sz="1800" b="0" i="0" baseline="0" dirty="0"/>
              <a:t> on Environmental Sensors and Sensor Networks  </a:t>
            </a:r>
            <a:r>
              <a:rPr lang="en-US" sz="1800" b="0" i="0" u="none" baseline="0" dirty="0"/>
              <a:t>October 19</a:t>
            </a:r>
            <a:r>
              <a:rPr lang="en-US" sz="1800" b="0" i="0" u="none" baseline="30000" dirty="0"/>
              <a:t>th</a:t>
            </a:r>
            <a:r>
              <a:rPr lang="en-US" sz="1800" b="0" i="0" u="none" baseline="0" dirty="0"/>
              <a:t> to 23</a:t>
            </a:r>
            <a:r>
              <a:rPr lang="en-US" sz="1800" b="0" i="0" u="none" baseline="30000" dirty="0"/>
              <a:t>rd</a:t>
            </a:r>
            <a:r>
              <a:rPr lang="en-US" sz="1800" b="0" i="0" u="none" baseline="0" dirty="0"/>
              <a:t> 2026, Bern (CH)</a:t>
            </a:r>
            <a:endParaRPr lang="en-GB" sz="1800" b="0" i="0" u="none" dirty="0"/>
          </a:p>
        </p:txBody>
      </p:sp>
      <p:grpSp>
        <p:nvGrpSpPr>
          <p:cNvPr id="11" name="Groupe 10"/>
          <p:cNvGrpSpPr/>
          <p:nvPr userDrawn="1"/>
        </p:nvGrpSpPr>
        <p:grpSpPr>
          <a:xfrm>
            <a:off x="4608940" y="-22312"/>
            <a:ext cx="3717915" cy="1427196"/>
            <a:chOff x="4901062" y="-22311"/>
            <a:chExt cx="3717915" cy="1427196"/>
          </a:xfrm>
        </p:grpSpPr>
        <p:pic>
          <p:nvPicPr>
            <p:cNvPr id="3074" name="Picture 2" descr="European Metrology Network for Climate and Ocean Observation | INRIM"/>
            <p:cNvPicPr>
              <a:picLocks noChangeAspect="1" noChangeArrowheads="1"/>
            </p:cNvPicPr>
            <p:nvPr userDrawn="1"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14178" y="83366"/>
              <a:ext cx="1210723" cy="12107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6" name="Picture 4" descr="Chemical Metrology | ΑΑΔΕ"/>
            <p:cNvPicPr>
              <a:picLocks noChangeAspect="1" noChangeArrowheads="1"/>
            </p:cNvPicPr>
            <p:nvPr userDrawn="1"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1062" y="-22311"/>
              <a:ext cx="1427196" cy="14271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Image 3"/>
            <p:cNvPicPr>
              <a:picLocks noChangeAspect="1"/>
            </p:cNvPicPr>
            <p:nvPr userDrawn="1"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522" y="23636"/>
              <a:ext cx="1272455" cy="1272455"/>
            </a:xfrm>
            <a:prstGeom prst="rect">
              <a:avLst/>
            </a:prstGeom>
          </p:spPr>
        </p:pic>
      </p:grpSp>
      <p:sp>
        <p:nvSpPr>
          <p:cNvPr id="12" name="ZoneTexte 11"/>
          <p:cNvSpPr txBox="1"/>
          <p:nvPr userDrawn="1"/>
        </p:nvSpPr>
        <p:spPr>
          <a:xfrm>
            <a:off x="4647414" y="2198195"/>
            <a:ext cx="7324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Increasing the trustworthiness of sensors for environmental applications through metrology</a:t>
            </a:r>
            <a:endParaRPr lang="fr-FR" sz="2400" b="1" dirty="0"/>
          </a:p>
        </p:txBody>
      </p:sp>
      <p:pic>
        <p:nvPicPr>
          <p:cNvPr id="1026" name="Picture 2" descr="CFM Annuaire - Institut Fédéral de Métrologie METAS"/>
          <p:cNvPicPr>
            <a:picLocks noChangeAspect="1" noChangeArrowheads="1"/>
          </p:cNvPicPr>
          <p:nvPr userDrawn="1"/>
        </p:nvPicPr>
        <p:blipFill>
          <a:blip r:embed="rId8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938" y="6140920"/>
            <a:ext cx="1869713" cy="600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ABUCO"/>
          <p:cNvPicPr>
            <a:picLocks noChangeAspect="1" noChangeArrowheads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0877" y="6109968"/>
            <a:ext cx="1717252" cy="536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7075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07B2DEA-5350-4AFF-9006-91CC56F0410F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4450" y="484717"/>
            <a:ext cx="971550" cy="21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a-IE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pic>
        <p:nvPicPr>
          <p:cNvPr id="27" name="Picture 8" descr="PPT TEXT BAR.jpg">
            <a:extLst>
              <a:ext uri="{FF2B5EF4-FFF2-40B4-BE49-F238E27FC236}">
                <a16:creationId xmlns:a16="http://schemas.microsoft.com/office/drawing/2014/main" id="{12AB5B74-7DF2-43A3-9786-958FCD76CD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39578"/>
            <a:ext cx="12192000" cy="72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2" descr="Fueling Dreams: EU-Financed Programs Empowering ..."/>
          <p:cNvPicPr>
            <a:picLocks noChangeAspect="1" noChangeArrowheads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7541" y="6098636"/>
            <a:ext cx="2067375" cy="82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Slide Number Placeholder 4">
            <a:extLst>
              <a:ext uri="{FF2B5EF4-FFF2-40B4-BE49-F238E27FC236}">
                <a16:creationId xmlns:a16="http://schemas.microsoft.com/office/drawing/2014/main" id="{9C4A7B4A-513A-4AB2-B60D-174BEAD4A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237" y="6399652"/>
            <a:ext cx="733214" cy="2079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4927B821-8AD3-4E68-AB16-E283C9169A48}" type="slidenum">
              <a:rPr lang="en-GB" smtClean="0"/>
              <a:pPr/>
              <a:t>‹N°›</a:t>
            </a:fld>
            <a:endParaRPr lang="en-GB" dirty="0"/>
          </a:p>
        </p:txBody>
      </p:sp>
      <p:sp>
        <p:nvSpPr>
          <p:cNvPr id="34" name="ZoneTexte 33"/>
          <p:cNvSpPr txBox="1"/>
          <p:nvPr userDrawn="1"/>
        </p:nvSpPr>
        <p:spPr>
          <a:xfrm>
            <a:off x="2164286" y="6169033"/>
            <a:ext cx="4264223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2">
                    <a:lumMod val="75000"/>
                  </a:schemeClr>
                </a:solidFill>
              </a:rPr>
              <a:t>Increasing the trustworthiness of sensors for environmental applications through metrology</a:t>
            </a:r>
          </a:p>
          <a:p>
            <a:r>
              <a:rPr lang="en-US" sz="900" i="1" dirty="0">
                <a:solidFill>
                  <a:schemeClr val="bg2">
                    <a:lumMod val="75000"/>
                  </a:schemeClr>
                </a:solidFill>
              </a:rPr>
              <a:t>October 19</a:t>
            </a:r>
            <a:r>
              <a:rPr lang="en-US" sz="900" i="1" baseline="30000" dirty="0">
                <a:solidFill>
                  <a:schemeClr val="bg2">
                    <a:lumMod val="75000"/>
                  </a:schemeClr>
                </a:solidFill>
              </a:rPr>
              <a:t>th</a:t>
            </a:r>
            <a:r>
              <a:rPr lang="en-US" sz="900" i="1" dirty="0">
                <a:solidFill>
                  <a:schemeClr val="bg2">
                    <a:lumMod val="75000"/>
                  </a:schemeClr>
                </a:solidFill>
              </a:rPr>
              <a:t> to 23</a:t>
            </a:r>
            <a:r>
              <a:rPr lang="en-US" sz="900" i="1" baseline="30000" dirty="0">
                <a:solidFill>
                  <a:schemeClr val="bg2">
                    <a:lumMod val="75000"/>
                  </a:schemeClr>
                </a:solidFill>
              </a:rPr>
              <a:t>rd</a:t>
            </a:r>
            <a:r>
              <a:rPr lang="en-US" sz="900" i="1" dirty="0">
                <a:solidFill>
                  <a:schemeClr val="bg2">
                    <a:lumMod val="75000"/>
                  </a:schemeClr>
                </a:solidFill>
              </a:rPr>
              <a:t> 2026, Bern (CH)</a:t>
            </a:r>
            <a:endParaRPr lang="en-GB" sz="900" i="1" dirty="0">
              <a:solidFill>
                <a:schemeClr val="bg2">
                  <a:lumMod val="75000"/>
                </a:schemeClr>
              </a:solidFill>
            </a:endParaRPr>
          </a:p>
          <a:p>
            <a:endParaRPr lang="fr-FR" sz="1800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13" name="Groupe 12"/>
          <p:cNvGrpSpPr>
            <a:grpSpLocks noChangeAspect="1"/>
          </p:cNvGrpSpPr>
          <p:nvPr userDrawn="1"/>
        </p:nvGrpSpPr>
        <p:grpSpPr>
          <a:xfrm>
            <a:off x="0" y="6107679"/>
            <a:ext cx="2110862" cy="810296"/>
            <a:chOff x="4901062" y="-22311"/>
            <a:chExt cx="3717915" cy="1427196"/>
          </a:xfrm>
        </p:grpSpPr>
        <p:pic>
          <p:nvPicPr>
            <p:cNvPr id="14" name="Picture 2" descr="European Metrology Network for Climate and Ocean Observation | INRIM"/>
            <p:cNvPicPr>
              <a:picLocks noChangeAspect="1" noChangeArrowheads="1"/>
            </p:cNvPicPr>
            <p:nvPr userDrawn="1"/>
          </p:nvPicPr>
          <p:blipFill>
            <a:blip r:embed="rId4" cstate="hq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14178" y="83366"/>
              <a:ext cx="1210723" cy="12107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 descr="Chemical Metrology | ΑΑΔΕ"/>
            <p:cNvPicPr>
              <a:picLocks noChangeAspect="1" noChangeArrowheads="1"/>
            </p:cNvPicPr>
            <p:nvPr userDrawn="1"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1062" y="-22311"/>
              <a:ext cx="1427196" cy="14271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Image 15"/>
            <p:cNvPicPr>
              <a:picLocks noChangeAspect="1"/>
            </p:cNvPicPr>
            <p:nvPr userDrawn="1"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522" y="23636"/>
              <a:ext cx="1272455" cy="1272455"/>
            </a:xfrm>
            <a:prstGeom prst="rect">
              <a:avLst/>
            </a:prstGeom>
          </p:spPr>
        </p:pic>
      </p:grpSp>
      <p:sp>
        <p:nvSpPr>
          <p:cNvPr id="4" name="Espace réservé pour une image  3"/>
          <p:cNvSpPr>
            <a:spLocks noGrp="1"/>
          </p:cNvSpPr>
          <p:nvPr>
            <p:ph type="pic" sz="quarter" idx="13" hasCustomPrompt="1"/>
          </p:nvPr>
        </p:nvSpPr>
        <p:spPr>
          <a:xfrm>
            <a:off x="7116332" y="6194190"/>
            <a:ext cx="1254125" cy="61888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aseline="0"/>
            </a:lvl1pPr>
          </a:lstStyle>
          <a:p>
            <a:r>
              <a:rPr lang="fr-FR" dirty="0" smtClean="0"/>
              <a:t>Put </a:t>
            </a:r>
            <a:r>
              <a:rPr lang="fr-FR" dirty="0" err="1" smtClean="0"/>
              <a:t>your</a:t>
            </a:r>
            <a:r>
              <a:rPr lang="fr-FR" dirty="0" smtClean="0"/>
              <a:t> institue logo </a:t>
            </a:r>
            <a:r>
              <a:rPr lang="fr-FR" dirty="0" err="1" smtClean="0"/>
              <a:t>here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9541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B275259-F7F0-496F-9EAD-C8894A5995D9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4450" y="484717"/>
            <a:ext cx="971550" cy="21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517151"/>
            <a:ext cx="7451645" cy="733908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>
            <a:lvl1pPr algn="l">
              <a:buFontTx/>
              <a:buNone/>
              <a:defRPr sz="1800" b="1" baseline="0"/>
            </a:lvl1pPr>
            <a:lvl2pPr>
              <a:buNone/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a-IE" dirty="0"/>
          </a:p>
        </p:txBody>
      </p:sp>
      <p:pic>
        <p:nvPicPr>
          <p:cNvPr id="21" name="Picture 8" descr="PPT TEXT BAR.jpg">
            <a:extLst>
              <a:ext uri="{FF2B5EF4-FFF2-40B4-BE49-F238E27FC236}">
                <a16:creationId xmlns:a16="http://schemas.microsoft.com/office/drawing/2014/main" id="{12AB5B74-7DF2-43A3-9786-958FCD76CD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39578"/>
            <a:ext cx="12192000" cy="72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" descr="Fueling Dreams: EU-Financed Programs Empowering ..."/>
          <p:cNvPicPr>
            <a:picLocks noChangeAspect="1" noChangeArrowheads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7541" y="6098636"/>
            <a:ext cx="2067375" cy="82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9C4A7B4A-513A-4AB2-B60D-174BEAD4A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237" y="6399652"/>
            <a:ext cx="733214" cy="2079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4927B821-8AD3-4E68-AB16-E283C9169A48}" type="slidenum">
              <a:rPr lang="en-GB" smtClean="0"/>
              <a:pPr/>
              <a:t>‹N°›</a:t>
            </a:fld>
            <a:endParaRPr lang="en-GB" dirty="0"/>
          </a:p>
        </p:txBody>
      </p:sp>
      <p:sp>
        <p:nvSpPr>
          <p:cNvPr id="24" name="ZoneTexte 23"/>
          <p:cNvSpPr txBox="1"/>
          <p:nvPr userDrawn="1"/>
        </p:nvSpPr>
        <p:spPr>
          <a:xfrm>
            <a:off x="2164286" y="6169033"/>
            <a:ext cx="4264223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2">
                    <a:lumMod val="75000"/>
                  </a:schemeClr>
                </a:solidFill>
              </a:rPr>
              <a:t>Increasing the trustworthiness of sensors for environmental applications through metrology</a:t>
            </a:r>
          </a:p>
          <a:p>
            <a:r>
              <a:rPr lang="en-US" sz="900" i="1" dirty="0">
                <a:solidFill>
                  <a:schemeClr val="bg2">
                    <a:lumMod val="75000"/>
                  </a:schemeClr>
                </a:solidFill>
              </a:rPr>
              <a:t>October 19</a:t>
            </a:r>
            <a:r>
              <a:rPr lang="en-US" sz="900" i="1" baseline="30000" dirty="0">
                <a:solidFill>
                  <a:schemeClr val="bg2">
                    <a:lumMod val="75000"/>
                  </a:schemeClr>
                </a:solidFill>
              </a:rPr>
              <a:t>th</a:t>
            </a:r>
            <a:r>
              <a:rPr lang="en-US" sz="900" i="1" dirty="0">
                <a:solidFill>
                  <a:schemeClr val="bg2">
                    <a:lumMod val="75000"/>
                  </a:schemeClr>
                </a:solidFill>
              </a:rPr>
              <a:t> to 23</a:t>
            </a:r>
            <a:r>
              <a:rPr lang="en-US" sz="900" i="1" baseline="30000" dirty="0">
                <a:solidFill>
                  <a:schemeClr val="bg2">
                    <a:lumMod val="75000"/>
                  </a:schemeClr>
                </a:solidFill>
              </a:rPr>
              <a:t>rd</a:t>
            </a:r>
            <a:r>
              <a:rPr lang="en-US" sz="900" i="1" dirty="0">
                <a:solidFill>
                  <a:schemeClr val="bg2">
                    <a:lumMod val="75000"/>
                  </a:schemeClr>
                </a:solidFill>
              </a:rPr>
              <a:t> 2026, Bern (CH)</a:t>
            </a:r>
            <a:endParaRPr lang="en-GB" sz="900" i="1" dirty="0">
              <a:solidFill>
                <a:schemeClr val="bg2">
                  <a:lumMod val="75000"/>
                </a:schemeClr>
              </a:solidFill>
            </a:endParaRPr>
          </a:p>
          <a:p>
            <a:endParaRPr lang="fr-FR" sz="1800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25" name="Groupe 24"/>
          <p:cNvGrpSpPr>
            <a:grpSpLocks noChangeAspect="1"/>
          </p:cNvGrpSpPr>
          <p:nvPr userDrawn="1"/>
        </p:nvGrpSpPr>
        <p:grpSpPr>
          <a:xfrm>
            <a:off x="0" y="6107679"/>
            <a:ext cx="2110862" cy="810296"/>
            <a:chOff x="4901062" y="-22311"/>
            <a:chExt cx="3717915" cy="1427196"/>
          </a:xfrm>
        </p:grpSpPr>
        <p:pic>
          <p:nvPicPr>
            <p:cNvPr id="26" name="Picture 2" descr="European Metrology Network for Climate and Ocean Observation | INRIM"/>
            <p:cNvPicPr>
              <a:picLocks noChangeAspect="1" noChangeArrowheads="1"/>
            </p:cNvPicPr>
            <p:nvPr userDrawn="1"/>
          </p:nvPicPr>
          <p:blipFill>
            <a:blip r:embed="rId4" cstate="hq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14178" y="83366"/>
              <a:ext cx="1210723" cy="12107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4" descr="Chemical Metrology | ΑΑΔΕ"/>
            <p:cNvPicPr>
              <a:picLocks noChangeAspect="1" noChangeArrowheads="1"/>
            </p:cNvPicPr>
            <p:nvPr userDrawn="1"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1062" y="-22311"/>
              <a:ext cx="1427196" cy="14271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Image 27"/>
            <p:cNvPicPr>
              <a:picLocks noChangeAspect="1"/>
            </p:cNvPicPr>
            <p:nvPr userDrawn="1"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522" y="23636"/>
              <a:ext cx="1272455" cy="1272455"/>
            </a:xfrm>
            <a:prstGeom prst="rect">
              <a:avLst/>
            </a:prstGeom>
          </p:spPr>
        </p:pic>
      </p:grpSp>
      <p:sp>
        <p:nvSpPr>
          <p:cNvPr id="29" name="Espace réservé pour une image  3"/>
          <p:cNvSpPr>
            <a:spLocks noGrp="1"/>
          </p:cNvSpPr>
          <p:nvPr>
            <p:ph type="pic" sz="quarter" idx="13" hasCustomPrompt="1"/>
          </p:nvPr>
        </p:nvSpPr>
        <p:spPr>
          <a:xfrm>
            <a:off x="7116332" y="6194190"/>
            <a:ext cx="1254125" cy="61888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aseline="0"/>
            </a:lvl1pPr>
          </a:lstStyle>
          <a:p>
            <a:r>
              <a:rPr lang="fr-FR" dirty="0" smtClean="0"/>
              <a:t>Put </a:t>
            </a:r>
            <a:r>
              <a:rPr lang="fr-FR" dirty="0" err="1" smtClean="0"/>
              <a:t>your</a:t>
            </a:r>
            <a:r>
              <a:rPr lang="fr-FR" dirty="0" smtClean="0"/>
              <a:t> institue logo </a:t>
            </a:r>
            <a:r>
              <a:rPr lang="fr-FR" dirty="0" err="1" smtClean="0"/>
              <a:t>here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6286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7EE9BC2-0177-4AA7-9F01-05AC9351089D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4450" y="484717"/>
            <a:ext cx="971550" cy="21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7151"/>
            <a:ext cx="7451645" cy="733908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21" name="Picture 8" descr="PPT TEXT BAR.jpg">
            <a:extLst>
              <a:ext uri="{FF2B5EF4-FFF2-40B4-BE49-F238E27FC236}">
                <a16:creationId xmlns:a16="http://schemas.microsoft.com/office/drawing/2014/main" id="{12AB5B74-7DF2-43A3-9786-958FCD76CD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39578"/>
            <a:ext cx="12192000" cy="72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" descr="Fueling Dreams: EU-Financed Programs Empowering ..."/>
          <p:cNvPicPr>
            <a:picLocks noChangeAspect="1" noChangeArrowheads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7541" y="6098636"/>
            <a:ext cx="2067375" cy="82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9C4A7B4A-513A-4AB2-B60D-174BEAD4A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237" y="6399652"/>
            <a:ext cx="733214" cy="2079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4927B821-8AD3-4E68-AB16-E283C9169A48}" type="slidenum">
              <a:rPr lang="en-GB" smtClean="0"/>
              <a:pPr/>
              <a:t>‹N°›</a:t>
            </a:fld>
            <a:endParaRPr lang="en-GB" dirty="0"/>
          </a:p>
        </p:txBody>
      </p:sp>
      <p:sp>
        <p:nvSpPr>
          <p:cNvPr id="24" name="ZoneTexte 23"/>
          <p:cNvSpPr txBox="1"/>
          <p:nvPr userDrawn="1"/>
        </p:nvSpPr>
        <p:spPr>
          <a:xfrm>
            <a:off x="2164286" y="6169033"/>
            <a:ext cx="4264223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2">
                    <a:lumMod val="75000"/>
                  </a:schemeClr>
                </a:solidFill>
              </a:rPr>
              <a:t>Increasing the trustworthiness of sensors for environmental applications through metrology</a:t>
            </a:r>
          </a:p>
          <a:p>
            <a:r>
              <a:rPr lang="en-US" sz="900" i="1" dirty="0">
                <a:solidFill>
                  <a:schemeClr val="bg2">
                    <a:lumMod val="75000"/>
                  </a:schemeClr>
                </a:solidFill>
              </a:rPr>
              <a:t>October 19</a:t>
            </a:r>
            <a:r>
              <a:rPr lang="en-US" sz="900" i="1" baseline="30000" dirty="0">
                <a:solidFill>
                  <a:schemeClr val="bg2">
                    <a:lumMod val="75000"/>
                  </a:schemeClr>
                </a:solidFill>
              </a:rPr>
              <a:t>th</a:t>
            </a:r>
            <a:r>
              <a:rPr lang="en-US" sz="900" i="1" dirty="0">
                <a:solidFill>
                  <a:schemeClr val="bg2">
                    <a:lumMod val="75000"/>
                  </a:schemeClr>
                </a:solidFill>
              </a:rPr>
              <a:t> to 23</a:t>
            </a:r>
            <a:r>
              <a:rPr lang="en-US" sz="900" i="1" baseline="30000" dirty="0">
                <a:solidFill>
                  <a:schemeClr val="bg2">
                    <a:lumMod val="75000"/>
                  </a:schemeClr>
                </a:solidFill>
              </a:rPr>
              <a:t>rd</a:t>
            </a:r>
            <a:r>
              <a:rPr lang="en-US" sz="900" i="1" dirty="0">
                <a:solidFill>
                  <a:schemeClr val="bg2">
                    <a:lumMod val="75000"/>
                  </a:schemeClr>
                </a:solidFill>
              </a:rPr>
              <a:t> 2026, Bern (CH)</a:t>
            </a:r>
            <a:endParaRPr lang="en-GB" sz="900" i="1" dirty="0">
              <a:solidFill>
                <a:schemeClr val="bg2">
                  <a:lumMod val="75000"/>
                </a:schemeClr>
              </a:solidFill>
            </a:endParaRPr>
          </a:p>
          <a:p>
            <a:endParaRPr lang="fr-FR" sz="1800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25" name="Groupe 24"/>
          <p:cNvGrpSpPr>
            <a:grpSpLocks noChangeAspect="1"/>
          </p:cNvGrpSpPr>
          <p:nvPr userDrawn="1"/>
        </p:nvGrpSpPr>
        <p:grpSpPr>
          <a:xfrm>
            <a:off x="0" y="6107679"/>
            <a:ext cx="2110862" cy="810296"/>
            <a:chOff x="4901062" y="-22311"/>
            <a:chExt cx="3717915" cy="1427196"/>
          </a:xfrm>
        </p:grpSpPr>
        <p:pic>
          <p:nvPicPr>
            <p:cNvPr id="26" name="Picture 2" descr="European Metrology Network for Climate and Ocean Observation | INRIM"/>
            <p:cNvPicPr>
              <a:picLocks noChangeAspect="1" noChangeArrowheads="1"/>
            </p:cNvPicPr>
            <p:nvPr userDrawn="1"/>
          </p:nvPicPr>
          <p:blipFill>
            <a:blip r:embed="rId4" cstate="hq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14178" y="83366"/>
              <a:ext cx="1210723" cy="12107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4" descr="Chemical Metrology | ΑΑΔΕ"/>
            <p:cNvPicPr>
              <a:picLocks noChangeAspect="1" noChangeArrowheads="1"/>
            </p:cNvPicPr>
            <p:nvPr userDrawn="1"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1062" y="-22311"/>
              <a:ext cx="1427196" cy="14271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Image 27"/>
            <p:cNvPicPr>
              <a:picLocks noChangeAspect="1"/>
            </p:cNvPicPr>
            <p:nvPr userDrawn="1"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522" y="23636"/>
              <a:ext cx="1272455" cy="1272455"/>
            </a:xfrm>
            <a:prstGeom prst="rect">
              <a:avLst/>
            </a:prstGeom>
          </p:spPr>
        </p:pic>
      </p:grpSp>
      <p:sp>
        <p:nvSpPr>
          <p:cNvPr id="29" name="Espace réservé pour une image  3"/>
          <p:cNvSpPr>
            <a:spLocks noGrp="1"/>
          </p:cNvSpPr>
          <p:nvPr>
            <p:ph type="pic" sz="quarter" idx="13" hasCustomPrompt="1"/>
          </p:nvPr>
        </p:nvSpPr>
        <p:spPr>
          <a:xfrm>
            <a:off x="7116332" y="6194190"/>
            <a:ext cx="1254125" cy="61888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aseline="0"/>
            </a:lvl1pPr>
          </a:lstStyle>
          <a:p>
            <a:r>
              <a:rPr lang="fr-FR" dirty="0" smtClean="0"/>
              <a:t>Put </a:t>
            </a:r>
            <a:r>
              <a:rPr lang="fr-FR" dirty="0" err="1" smtClean="0"/>
              <a:t>your</a:t>
            </a:r>
            <a:r>
              <a:rPr lang="fr-FR" dirty="0" smtClean="0"/>
              <a:t> institue logo </a:t>
            </a:r>
            <a:r>
              <a:rPr lang="fr-FR" dirty="0" err="1" smtClean="0"/>
              <a:t>here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35267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52B4AFF-7BB7-4764-AA3B-403A5E4401CA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4450" y="484717"/>
            <a:ext cx="971550" cy="21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517151"/>
            <a:ext cx="7451645" cy="733908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pic>
        <p:nvPicPr>
          <p:cNvPr id="26" name="Picture 8" descr="PPT TEXT BAR.jpg">
            <a:extLst>
              <a:ext uri="{FF2B5EF4-FFF2-40B4-BE49-F238E27FC236}">
                <a16:creationId xmlns:a16="http://schemas.microsoft.com/office/drawing/2014/main" id="{12AB5B74-7DF2-43A3-9786-958FCD76CD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39578"/>
            <a:ext cx="12192000" cy="72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2" descr="Fueling Dreams: EU-Financed Programs Empowering ..."/>
          <p:cNvPicPr>
            <a:picLocks noChangeAspect="1" noChangeArrowheads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7541" y="6098636"/>
            <a:ext cx="2067375" cy="82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4">
            <a:extLst>
              <a:ext uri="{FF2B5EF4-FFF2-40B4-BE49-F238E27FC236}">
                <a16:creationId xmlns:a16="http://schemas.microsoft.com/office/drawing/2014/main" id="{9C4A7B4A-513A-4AB2-B60D-174BEAD4A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237" y="6399652"/>
            <a:ext cx="733214" cy="2079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4927B821-8AD3-4E68-AB16-E283C9169A48}" type="slidenum">
              <a:rPr lang="en-GB" smtClean="0"/>
              <a:pPr/>
              <a:t>‹N°›</a:t>
            </a:fld>
            <a:endParaRPr lang="en-GB" dirty="0"/>
          </a:p>
        </p:txBody>
      </p:sp>
      <p:sp>
        <p:nvSpPr>
          <p:cNvPr id="29" name="ZoneTexte 28"/>
          <p:cNvSpPr txBox="1"/>
          <p:nvPr userDrawn="1"/>
        </p:nvSpPr>
        <p:spPr>
          <a:xfrm>
            <a:off x="2164286" y="6169033"/>
            <a:ext cx="4264223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2">
                    <a:lumMod val="75000"/>
                  </a:schemeClr>
                </a:solidFill>
              </a:rPr>
              <a:t>Increasing the trustworthiness of sensors for environmental applications through metrology</a:t>
            </a:r>
          </a:p>
          <a:p>
            <a:r>
              <a:rPr lang="en-US" sz="900" i="1" dirty="0">
                <a:solidFill>
                  <a:schemeClr val="bg2">
                    <a:lumMod val="75000"/>
                  </a:schemeClr>
                </a:solidFill>
              </a:rPr>
              <a:t>October 19</a:t>
            </a:r>
            <a:r>
              <a:rPr lang="en-US" sz="900" i="1" baseline="30000" dirty="0">
                <a:solidFill>
                  <a:schemeClr val="bg2">
                    <a:lumMod val="75000"/>
                  </a:schemeClr>
                </a:solidFill>
              </a:rPr>
              <a:t>th</a:t>
            </a:r>
            <a:r>
              <a:rPr lang="en-US" sz="900" i="1" dirty="0">
                <a:solidFill>
                  <a:schemeClr val="bg2">
                    <a:lumMod val="75000"/>
                  </a:schemeClr>
                </a:solidFill>
              </a:rPr>
              <a:t> to 23</a:t>
            </a:r>
            <a:r>
              <a:rPr lang="en-US" sz="900" i="1" baseline="30000" dirty="0">
                <a:solidFill>
                  <a:schemeClr val="bg2">
                    <a:lumMod val="75000"/>
                  </a:schemeClr>
                </a:solidFill>
              </a:rPr>
              <a:t>rd</a:t>
            </a:r>
            <a:r>
              <a:rPr lang="en-US" sz="900" i="1" dirty="0">
                <a:solidFill>
                  <a:schemeClr val="bg2">
                    <a:lumMod val="75000"/>
                  </a:schemeClr>
                </a:solidFill>
              </a:rPr>
              <a:t> 2026, Bern (CH)</a:t>
            </a:r>
            <a:endParaRPr lang="en-GB" sz="900" i="1" dirty="0">
              <a:solidFill>
                <a:schemeClr val="bg2">
                  <a:lumMod val="75000"/>
                </a:schemeClr>
              </a:solidFill>
            </a:endParaRPr>
          </a:p>
          <a:p>
            <a:endParaRPr lang="fr-FR" sz="1800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30" name="Groupe 29"/>
          <p:cNvGrpSpPr>
            <a:grpSpLocks noChangeAspect="1"/>
          </p:cNvGrpSpPr>
          <p:nvPr userDrawn="1"/>
        </p:nvGrpSpPr>
        <p:grpSpPr>
          <a:xfrm>
            <a:off x="0" y="6107679"/>
            <a:ext cx="2110862" cy="810296"/>
            <a:chOff x="4901062" y="-22311"/>
            <a:chExt cx="3717915" cy="1427196"/>
          </a:xfrm>
        </p:grpSpPr>
        <p:pic>
          <p:nvPicPr>
            <p:cNvPr id="31" name="Picture 2" descr="European Metrology Network for Climate and Ocean Observation | INRIM"/>
            <p:cNvPicPr>
              <a:picLocks noChangeAspect="1" noChangeArrowheads="1"/>
            </p:cNvPicPr>
            <p:nvPr userDrawn="1"/>
          </p:nvPicPr>
          <p:blipFill>
            <a:blip r:embed="rId4" cstate="hq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14178" y="83366"/>
              <a:ext cx="1210723" cy="12107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4" descr="Chemical Metrology | ΑΑΔΕ"/>
            <p:cNvPicPr>
              <a:picLocks noChangeAspect="1" noChangeArrowheads="1"/>
            </p:cNvPicPr>
            <p:nvPr userDrawn="1"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1062" y="-22311"/>
              <a:ext cx="1427196" cy="14271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Image 32"/>
            <p:cNvPicPr>
              <a:picLocks noChangeAspect="1"/>
            </p:cNvPicPr>
            <p:nvPr userDrawn="1"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522" y="23636"/>
              <a:ext cx="1272455" cy="1272455"/>
            </a:xfrm>
            <a:prstGeom prst="rect">
              <a:avLst/>
            </a:prstGeom>
          </p:spPr>
        </p:pic>
      </p:grpSp>
      <p:sp>
        <p:nvSpPr>
          <p:cNvPr id="34" name="Espace réservé pour une image  3"/>
          <p:cNvSpPr>
            <a:spLocks noGrp="1"/>
          </p:cNvSpPr>
          <p:nvPr>
            <p:ph type="pic" sz="quarter" idx="13" hasCustomPrompt="1"/>
          </p:nvPr>
        </p:nvSpPr>
        <p:spPr>
          <a:xfrm>
            <a:off x="7116332" y="6194190"/>
            <a:ext cx="1254125" cy="61888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aseline="0"/>
            </a:lvl1pPr>
          </a:lstStyle>
          <a:p>
            <a:r>
              <a:rPr lang="fr-FR" dirty="0" smtClean="0"/>
              <a:t>Put </a:t>
            </a:r>
            <a:r>
              <a:rPr lang="fr-FR" dirty="0" err="1" smtClean="0"/>
              <a:t>your</a:t>
            </a:r>
            <a:r>
              <a:rPr lang="fr-FR" dirty="0" smtClean="0"/>
              <a:t> institue logo </a:t>
            </a:r>
            <a:r>
              <a:rPr lang="fr-FR" dirty="0" err="1" smtClean="0"/>
              <a:t>here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42621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C80CD73-015F-469D-8B12-326A2C662407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4450" y="484717"/>
            <a:ext cx="971550" cy="21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338517"/>
            <a:ext cx="7315200" cy="33890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5" name="Title 1"/>
          <p:cNvSpPr txBox="1">
            <a:spLocks/>
          </p:cNvSpPr>
          <p:nvPr userDrawn="1"/>
        </p:nvSpPr>
        <p:spPr>
          <a:xfrm>
            <a:off x="609600" y="517151"/>
            <a:ext cx="7451645" cy="733908"/>
          </a:xfrm>
          <a:prstGeom prst="rect">
            <a:avLst/>
          </a:prstGeo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pic>
        <p:nvPicPr>
          <p:cNvPr id="23" name="Picture 8" descr="PPT TEXT BAR.jpg">
            <a:extLst>
              <a:ext uri="{FF2B5EF4-FFF2-40B4-BE49-F238E27FC236}">
                <a16:creationId xmlns:a16="http://schemas.microsoft.com/office/drawing/2014/main" id="{12AB5B74-7DF2-43A3-9786-958FCD76CD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39578"/>
            <a:ext cx="12192000" cy="72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" descr="Fueling Dreams: EU-Financed Programs Empowering ..."/>
          <p:cNvPicPr>
            <a:picLocks noChangeAspect="1" noChangeArrowheads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7541" y="6098636"/>
            <a:ext cx="2067375" cy="82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9C4A7B4A-513A-4AB2-B60D-174BEAD4A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237" y="6399652"/>
            <a:ext cx="733214" cy="2079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4927B821-8AD3-4E68-AB16-E283C9169A48}" type="slidenum">
              <a:rPr lang="en-GB" smtClean="0"/>
              <a:pPr/>
              <a:t>‹N°›</a:t>
            </a:fld>
            <a:endParaRPr lang="en-GB" dirty="0"/>
          </a:p>
        </p:txBody>
      </p:sp>
      <p:sp>
        <p:nvSpPr>
          <p:cNvPr id="26" name="ZoneTexte 25"/>
          <p:cNvSpPr txBox="1"/>
          <p:nvPr userDrawn="1"/>
        </p:nvSpPr>
        <p:spPr>
          <a:xfrm>
            <a:off x="2164286" y="6169033"/>
            <a:ext cx="4264223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2">
                    <a:lumMod val="75000"/>
                  </a:schemeClr>
                </a:solidFill>
              </a:rPr>
              <a:t>Increasing the trustworthiness of sensors for environmental applications through metrology</a:t>
            </a:r>
          </a:p>
          <a:p>
            <a:r>
              <a:rPr lang="en-US" sz="900" i="1" dirty="0">
                <a:solidFill>
                  <a:schemeClr val="bg2">
                    <a:lumMod val="75000"/>
                  </a:schemeClr>
                </a:solidFill>
              </a:rPr>
              <a:t>October 19</a:t>
            </a:r>
            <a:r>
              <a:rPr lang="en-US" sz="900" i="1" baseline="30000" dirty="0">
                <a:solidFill>
                  <a:schemeClr val="bg2">
                    <a:lumMod val="75000"/>
                  </a:schemeClr>
                </a:solidFill>
              </a:rPr>
              <a:t>th</a:t>
            </a:r>
            <a:r>
              <a:rPr lang="en-US" sz="900" i="1" dirty="0">
                <a:solidFill>
                  <a:schemeClr val="bg2">
                    <a:lumMod val="75000"/>
                  </a:schemeClr>
                </a:solidFill>
              </a:rPr>
              <a:t> to 23</a:t>
            </a:r>
            <a:r>
              <a:rPr lang="en-US" sz="900" i="1" baseline="30000" dirty="0">
                <a:solidFill>
                  <a:schemeClr val="bg2">
                    <a:lumMod val="75000"/>
                  </a:schemeClr>
                </a:solidFill>
              </a:rPr>
              <a:t>rd</a:t>
            </a:r>
            <a:r>
              <a:rPr lang="en-US" sz="900" i="1" dirty="0">
                <a:solidFill>
                  <a:schemeClr val="bg2">
                    <a:lumMod val="75000"/>
                  </a:schemeClr>
                </a:solidFill>
              </a:rPr>
              <a:t> 2026, Bern (CH)</a:t>
            </a:r>
            <a:endParaRPr lang="en-GB" sz="900" i="1" dirty="0">
              <a:solidFill>
                <a:schemeClr val="bg2">
                  <a:lumMod val="75000"/>
                </a:schemeClr>
              </a:solidFill>
            </a:endParaRPr>
          </a:p>
          <a:p>
            <a:endParaRPr lang="fr-FR" sz="1800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27" name="Groupe 26"/>
          <p:cNvGrpSpPr>
            <a:grpSpLocks noChangeAspect="1"/>
          </p:cNvGrpSpPr>
          <p:nvPr userDrawn="1"/>
        </p:nvGrpSpPr>
        <p:grpSpPr>
          <a:xfrm>
            <a:off x="0" y="6107679"/>
            <a:ext cx="2110862" cy="810296"/>
            <a:chOff x="4901062" y="-22311"/>
            <a:chExt cx="3717915" cy="1427196"/>
          </a:xfrm>
        </p:grpSpPr>
        <p:pic>
          <p:nvPicPr>
            <p:cNvPr id="28" name="Picture 2" descr="European Metrology Network for Climate and Ocean Observation | INRIM"/>
            <p:cNvPicPr>
              <a:picLocks noChangeAspect="1" noChangeArrowheads="1"/>
            </p:cNvPicPr>
            <p:nvPr userDrawn="1"/>
          </p:nvPicPr>
          <p:blipFill>
            <a:blip r:embed="rId4" cstate="hq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14178" y="83366"/>
              <a:ext cx="1210723" cy="12107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4" descr="Chemical Metrology | ΑΑΔΕ"/>
            <p:cNvPicPr>
              <a:picLocks noChangeAspect="1" noChangeArrowheads="1"/>
            </p:cNvPicPr>
            <p:nvPr userDrawn="1"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1062" y="-22311"/>
              <a:ext cx="1427196" cy="14271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Image 29"/>
            <p:cNvPicPr>
              <a:picLocks noChangeAspect="1"/>
            </p:cNvPicPr>
            <p:nvPr userDrawn="1"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522" y="23636"/>
              <a:ext cx="1272455" cy="1272455"/>
            </a:xfrm>
            <a:prstGeom prst="rect">
              <a:avLst/>
            </a:prstGeom>
          </p:spPr>
        </p:pic>
      </p:grpSp>
      <p:sp>
        <p:nvSpPr>
          <p:cNvPr id="31" name="Espace réservé pour une image  3"/>
          <p:cNvSpPr>
            <a:spLocks noGrp="1"/>
          </p:cNvSpPr>
          <p:nvPr>
            <p:ph type="pic" sz="quarter" idx="13" hasCustomPrompt="1"/>
          </p:nvPr>
        </p:nvSpPr>
        <p:spPr>
          <a:xfrm>
            <a:off x="7116332" y="6194190"/>
            <a:ext cx="1254125" cy="61888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aseline="0"/>
            </a:lvl1pPr>
          </a:lstStyle>
          <a:p>
            <a:r>
              <a:rPr lang="fr-FR" dirty="0" smtClean="0"/>
              <a:t>Put </a:t>
            </a:r>
            <a:r>
              <a:rPr lang="fr-FR" dirty="0" err="1" smtClean="0"/>
              <a:t>your</a:t>
            </a:r>
            <a:r>
              <a:rPr lang="fr-FR" dirty="0" smtClean="0"/>
              <a:t> institue logo </a:t>
            </a:r>
            <a:r>
              <a:rPr lang="fr-FR" dirty="0" err="1" smtClean="0"/>
              <a:t>here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91334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898B2F-5A39-47F3-AC37-AFDD4BA2F2D0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4450" y="484717"/>
            <a:ext cx="971550" cy="21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543121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543122"/>
            <a:ext cx="6815667" cy="42140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705172"/>
            <a:ext cx="4011084" cy="3051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8" name="Title 1"/>
          <p:cNvSpPr txBox="1">
            <a:spLocks/>
          </p:cNvSpPr>
          <p:nvPr userDrawn="1"/>
        </p:nvSpPr>
        <p:spPr>
          <a:xfrm>
            <a:off x="609600" y="517151"/>
            <a:ext cx="7451645" cy="733908"/>
          </a:xfrm>
          <a:prstGeom prst="rect">
            <a:avLst/>
          </a:prstGeo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pic>
        <p:nvPicPr>
          <p:cNvPr id="16" name="Picture 8" descr="PPT TEXT BAR.jpg">
            <a:extLst>
              <a:ext uri="{FF2B5EF4-FFF2-40B4-BE49-F238E27FC236}">
                <a16:creationId xmlns:a16="http://schemas.microsoft.com/office/drawing/2014/main" id="{12AB5B74-7DF2-43A3-9786-958FCD76CD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39578"/>
            <a:ext cx="12192000" cy="72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" descr="Fueling Dreams: EU-Financed Programs Empowering ..."/>
          <p:cNvPicPr>
            <a:picLocks noChangeAspect="1" noChangeArrowheads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7541" y="6098636"/>
            <a:ext cx="2067375" cy="82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9C4A7B4A-513A-4AB2-B60D-174BEAD4A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237" y="6399652"/>
            <a:ext cx="733214" cy="2079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4927B821-8AD3-4E68-AB16-E283C9169A48}" type="slidenum">
              <a:rPr lang="en-GB" smtClean="0"/>
              <a:pPr/>
              <a:t>‹N°›</a:t>
            </a:fld>
            <a:endParaRPr lang="en-GB" dirty="0"/>
          </a:p>
        </p:txBody>
      </p:sp>
      <p:sp>
        <p:nvSpPr>
          <p:cNvPr id="27" name="ZoneTexte 26"/>
          <p:cNvSpPr txBox="1"/>
          <p:nvPr userDrawn="1"/>
        </p:nvSpPr>
        <p:spPr>
          <a:xfrm>
            <a:off x="2164286" y="6169033"/>
            <a:ext cx="4264223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2">
                    <a:lumMod val="75000"/>
                  </a:schemeClr>
                </a:solidFill>
              </a:rPr>
              <a:t>Increasing the trustworthiness of sensors for environmental applications through metrology</a:t>
            </a:r>
          </a:p>
          <a:p>
            <a:r>
              <a:rPr lang="en-US" sz="900" i="1" dirty="0">
                <a:solidFill>
                  <a:schemeClr val="bg2">
                    <a:lumMod val="75000"/>
                  </a:schemeClr>
                </a:solidFill>
              </a:rPr>
              <a:t>October 19</a:t>
            </a:r>
            <a:r>
              <a:rPr lang="en-US" sz="900" i="1" baseline="30000" dirty="0">
                <a:solidFill>
                  <a:schemeClr val="bg2">
                    <a:lumMod val="75000"/>
                  </a:schemeClr>
                </a:solidFill>
              </a:rPr>
              <a:t>th</a:t>
            </a:r>
            <a:r>
              <a:rPr lang="en-US" sz="900" i="1" dirty="0">
                <a:solidFill>
                  <a:schemeClr val="bg2">
                    <a:lumMod val="75000"/>
                  </a:schemeClr>
                </a:solidFill>
              </a:rPr>
              <a:t> to 23</a:t>
            </a:r>
            <a:r>
              <a:rPr lang="en-US" sz="900" i="1" baseline="30000" dirty="0">
                <a:solidFill>
                  <a:schemeClr val="bg2">
                    <a:lumMod val="75000"/>
                  </a:schemeClr>
                </a:solidFill>
              </a:rPr>
              <a:t>rd</a:t>
            </a:r>
            <a:r>
              <a:rPr lang="en-US" sz="900" i="1" dirty="0">
                <a:solidFill>
                  <a:schemeClr val="bg2">
                    <a:lumMod val="75000"/>
                  </a:schemeClr>
                </a:solidFill>
              </a:rPr>
              <a:t> 2026, Bern (CH)</a:t>
            </a:r>
            <a:endParaRPr lang="en-GB" sz="900" i="1" dirty="0">
              <a:solidFill>
                <a:schemeClr val="bg2">
                  <a:lumMod val="75000"/>
                </a:schemeClr>
              </a:solidFill>
            </a:endParaRPr>
          </a:p>
          <a:p>
            <a:endParaRPr lang="fr-FR" sz="1800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28" name="Groupe 27"/>
          <p:cNvGrpSpPr>
            <a:grpSpLocks noChangeAspect="1"/>
          </p:cNvGrpSpPr>
          <p:nvPr userDrawn="1"/>
        </p:nvGrpSpPr>
        <p:grpSpPr>
          <a:xfrm>
            <a:off x="0" y="6107679"/>
            <a:ext cx="2110862" cy="810296"/>
            <a:chOff x="4901062" y="-22311"/>
            <a:chExt cx="3717915" cy="1427196"/>
          </a:xfrm>
        </p:grpSpPr>
        <p:pic>
          <p:nvPicPr>
            <p:cNvPr id="29" name="Picture 2" descr="European Metrology Network for Climate and Ocean Observation | INRIM"/>
            <p:cNvPicPr>
              <a:picLocks noChangeAspect="1" noChangeArrowheads="1"/>
            </p:cNvPicPr>
            <p:nvPr userDrawn="1"/>
          </p:nvPicPr>
          <p:blipFill>
            <a:blip r:embed="rId4" cstate="hq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14178" y="83366"/>
              <a:ext cx="1210723" cy="12107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4" descr="Chemical Metrology | ΑΑΔΕ"/>
            <p:cNvPicPr>
              <a:picLocks noChangeAspect="1" noChangeArrowheads="1"/>
            </p:cNvPicPr>
            <p:nvPr userDrawn="1"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1062" y="-22311"/>
              <a:ext cx="1427196" cy="14271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Image 30"/>
            <p:cNvPicPr>
              <a:picLocks noChangeAspect="1"/>
            </p:cNvPicPr>
            <p:nvPr userDrawn="1"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522" y="23636"/>
              <a:ext cx="1272455" cy="1272455"/>
            </a:xfrm>
            <a:prstGeom prst="rect">
              <a:avLst/>
            </a:prstGeom>
          </p:spPr>
        </p:pic>
      </p:grpSp>
      <p:sp>
        <p:nvSpPr>
          <p:cNvPr id="32" name="Espace réservé pour une image  3"/>
          <p:cNvSpPr>
            <a:spLocks noGrp="1"/>
          </p:cNvSpPr>
          <p:nvPr>
            <p:ph type="pic" sz="quarter" idx="13" hasCustomPrompt="1"/>
          </p:nvPr>
        </p:nvSpPr>
        <p:spPr>
          <a:xfrm>
            <a:off x="7116332" y="6194190"/>
            <a:ext cx="1254125" cy="61888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aseline="0"/>
            </a:lvl1pPr>
          </a:lstStyle>
          <a:p>
            <a:r>
              <a:rPr lang="fr-FR" dirty="0" smtClean="0"/>
              <a:t>Put </a:t>
            </a:r>
            <a:r>
              <a:rPr lang="fr-FR" dirty="0" err="1" smtClean="0"/>
              <a:t>your</a:t>
            </a:r>
            <a:r>
              <a:rPr lang="fr-FR" dirty="0" smtClean="0"/>
              <a:t> institue logo </a:t>
            </a:r>
            <a:r>
              <a:rPr lang="fr-FR" dirty="0" err="1" smtClean="0"/>
              <a:t>here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15552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4">
            <a:extLst>
              <a:ext uri="{FF2B5EF4-FFF2-40B4-BE49-F238E27FC236}">
                <a16:creationId xmlns:a16="http://schemas.microsoft.com/office/drawing/2014/main" id="{707B2DEA-5350-4AFF-9006-91CC56F0410F}"/>
              </a:ext>
            </a:extLst>
          </p:cNvPr>
          <p:cNvCxnSpPr>
            <a:cxnSpLocks noChangeShapeType="1"/>
          </p:cNvCxnSpPr>
          <p:nvPr userDrawn="1"/>
        </p:nvCxnSpPr>
        <p:spPr bwMode="auto">
          <a:xfrm rot="5400000">
            <a:off x="44450" y="484717"/>
            <a:ext cx="971550" cy="21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pic>
        <p:nvPicPr>
          <p:cNvPr id="1026" name="Picture 2" descr="Point D'Interrogation Question - Image gratuite sur Pixabay"/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01" t="5660" r="31033" b="4448"/>
          <a:stretch/>
        </p:blipFill>
        <p:spPr bwMode="auto">
          <a:xfrm>
            <a:off x="7689661" y="2385333"/>
            <a:ext cx="1314000" cy="244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Image 24"/>
          <p:cNvPicPr>
            <a:picLocks noChangeAspect="1"/>
          </p:cNvPicPr>
          <p:nvPr userDrawn="1"/>
        </p:nvPicPr>
        <p:blipFill>
          <a:blip r:embed="rId3" cstate="hq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3553" y="199280"/>
            <a:ext cx="4798311" cy="1343025"/>
          </a:xfrm>
          <a:prstGeom prst="rect">
            <a:avLst/>
          </a:prstGeom>
        </p:spPr>
      </p:pic>
      <p:sp>
        <p:nvSpPr>
          <p:cNvPr id="26" name="Rectangle 25"/>
          <p:cNvSpPr/>
          <p:nvPr userDrawn="1"/>
        </p:nvSpPr>
        <p:spPr>
          <a:xfrm>
            <a:off x="8078937" y="4799048"/>
            <a:ext cx="406869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1400" dirty="0" smtClean="0">
                <a:solidFill>
                  <a:schemeClr val="bg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The project has received </a:t>
            </a:r>
            <a:r>
              <a:rPr lang="en-GB" sz="1400" dirty="0" smtClean="0">
                <a:solidFill>
                  <a:schemeClr val="bg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funding </a:t>
            </a:r>
            <a:r>
              <a:rPr lang="en-GB" sz="1400" dirty="0" smtClean="0">
                <a:solidFill>
                  <a:schemeClr val="bg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from the European Partnership on Metrology, co-financed from the European Union</a:t>
            </a:r>
            <a:r>
              <a:rPr lang="en-US" sz="1400" dirty="0" smtClean="0">
                <a:solidFill>
                  <a:schemeClr val="bg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’s </a:t>
            </a:r>
            <a:r>
              <a:rPr lang="cs-CZ" sz="1400" dirty="0" smtClean="0">
                <a:solidFill>
                  <a:schemeClr val="bg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Horizon Europe Research and Innovation Programme and by the Participating States.</a:t>
            </a:r>
            <a:endParaRPr lang="fr-FR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9" name="ZoneTexte 28"/>
          <p:cNvSpPr txBox="1"/>
          <p:nvPr userDrawn="1"/>
        </p:nvSpPr>
        <p:spPr>
          <a:xfrm>
            <a:off x="4031529" y="2821241"/>
            <a:ext cx="41289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4800" b="0" dirty="0" smtClean="0">
                <a:latin typeface="+mn-lt"/>
                <a:cs typeface="Arial" panose="020B0604020202020204" pitchFamily="34" charset="0"/>
              </a:rPr>
              <a:t>Questions?</a:t>
            </a:r>
            <a:endParaRPr lang="ga-IE" sz="4800" b="0" dirty="0" smtClean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30" name="Rectangle 29"/>
          <p:cNvSpPr/>
          <p:nvPr userDrawn="1"/>
        </p:nvSpPr>
        <p:spPr>
          <a:xfrm>
            <a:off x="2078713" y="1587796"/>
            <a:ext cx="803457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fr-FR" sz="4800" dirty="0" err="1" smtClean="0">
                <a:latin typeface="+mn-lt"/>
              </a:rPr>
              <a:t>Thank</a:t>
            </a:r>
            <a:r>
              <a:rPr lang="fr-FR" sz="4800" dirty="0" smtClean="0">
                <a:latin typeface="+mn-lt"/>
              </a:rPr>
              <a:t> </a:t>
            </a:r>
            <a:r>
              <a:rPr lang="fr-FR" sz="4800" dirty="0" err="1" smtClean="0">
                <a:latin typeface="+mn-lt"/>
              </a:rPr>
              <a:t>you</a:t>
            </a:r>
            <a:r>
              <a:rPr lang="fr-FR" sz="4800" dirty="0" smtClean="0">
                <a:latin typeface="+mn-lt"/>
              </a:rPr>
              <a:t> for </a:t>
            </a:r>
            <a:r>
              <a:rPr lang="fr-FR" sz="4800" dirty="0" err="1" smtClean="0">
                <a:latin typeface="+mn-lt"/>
              </a:rPr>
              <a:t>your</a:t>
            </a:r>
            <a:r>
              <a:rPr lang="fr-FR" sz="4800" dirty="0" smtClean="0">
                <a:latin typeface="+mn-lt"/>
              </a:rPr>
              <a:t> attention!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3" hasCustomPrompt="1"/>
          </p:nvPr>
        </p:nvSpPr>
        <p:spPr>
          <a:xfrm>
            <a:off x="2328896" y="4232311"/>
            <a:ext cx="4599805" cy="5667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/>
            </a:lvl1pPr>
            <a:lvl5pPr>
              <a:defRPr/>
            </a:lvl5pPr>
          </a:lstStyle>
          <a:p>
            <a:pPr lvl="0"/>
            <a:r>
              <a:rPr lang="fr-FR" dirty="0" smtClean="0"/>
              <a:t>Put </a:t>
            </a:r>
            <a:r>
              <a:rPr lang="fr-FR" dirty="0" err="1" smtClean="0"/>
              <a:t>your</a:t>
            </a:r>
            <a:r>
              <a:rPr lang="fr-FR" dirty="0" smtClean="0"/>
              <a:t> email </a:t>
            </a:r>
            <a:r>
              <a:rPr lang="fr-FR" dirty="0" err="1" smtClean="0"/>
              <a:t>address</a:t>
            </a:r>
            <a:endParaRPr lang="fr-FR" dirty="0"/>
          </a:p>
        </p:txBody>
      </p:sp>
      <p:pic>
        <p:nvPicPr>
          <p:cNvPr id="27" name="Picture 8" descr="PPT TEXT BAR.jpg">
            <a:extLst>
              <a:ext uri="{FF2B5EF4-FFF2-40B4-BE49-F238E27FC236}">
                <a16:creationId xmlns:a16="http://schemas.microsoft.com/office/drawing/2014/main" id="{12AB5B74-7DF2-43A3-9786-958FCD76CDB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39578"/>
            <a:ext cx="12192000" cy="72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2" descr="Fueling Dreams: EU-Financed Programs Empowering ..."/>
          <p:cNvPicPr>
            <a:picLocks noChangeAspect="1" noChangeArrowheads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7541" y="6098636"/>
            <a:ext cx="2067375" cy="82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9C4A7B4A-513A-4AB2-B60D-174BEAD4A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237" y="6399652"/>
            <a:ext cx="733214" cy="2079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4927B821-8AD3-4E68-AB16-E283C9169A48}" type="slidenum">
              <a:rPr lang="en-GB" smtClean="0"/>
              <a:pPr/>
              <a:t>‹N°›</a:t>
            </a:fld>
            <a:endParaRPr lang="en-GB" dirty="0"/>
          </a:p>
        </p:txBody>
      </p:sp>
      <p:sp>
        <p:nvSpPr>
          <p:cNvPr id="32" name="ZoneTexte 31"/>
          <p:cNvSpPr txBox="1"/>
          <p:nvPr userDrawn="1"/>
        </p:nvSpPr>
        <p:spPr>
          <a:xfrm>
            <a:off x="2164286" y="6169033"/>
            <a:ext cx="4264223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2">
                    <a:lumMod val="75000"/>
                  </a:schemeClr>
                </a:solidFill>
              </a:rPr>
              <a:t>Increasing the trustworthiness of sensors for environmental applications through metrology</a:t>
            </a:r>
          </a:p>
          <a:p>
            <a:r>
              <a:rPr lang="en-US" sz="900" i="1" dirty="0">
                <a:solidFill>
                  <a:schemeClr val="bg2">
                    <a:lumMod val="75000"/>
                  </a:schemeClr>
                </a:solidFill>
              </a:rPr>
              <a:t>October 19</a:t>
            </a:r>
            <a:r>
              <a:rPr lang="en-US" sz="900" i="1" baseline="30000" dirty="0">
                <a:solidFill>
                  <a:schemeClr val="bg2">
                    <a:lumMod val="75000"/>
                  </a:schemeClr>
                </a:solidFill>
              </a:rPr>
              <a:t>th</a:t>
            </a:r>
            <a:r>
              <a:rPr lang="en-US" sz="900" i="1" dirty="0">
                <a:solidFill>
                  <a:schemeClr val="bg2">
                    <a:lumMod val="75000"/>
                  </a:schemeClr>
                </a:solidFill>
              </a:rPr>
              <a:t> to 23</a:t>
            </a:r>
            <a:r>
              <a:rPr lang="en-US" sz="900" i="1" baseline="30000" dirty="0">
                <a:solidFill>
                  <a:schemeClr val="bg2">
                    <a:lumMod val="75000"/>
                  </a:schemeClr>
                </a:solidFill>
              </a:rPr>
              <a:t>rd</a:t>
            </a:r>
            <a:r>
              <a:rPr lang="en-US" sz="900" i="1" dirty="0">
                <a:solidFill>
                  <a:schemeClr val="bg2">
                    <a:lumMod val="75000"/>
                  </a:schemeClr>
                </a:solidFill>
              </a:rPr>
              <a:t> 2026, Bern (CH)</a:t>
            </a:r>
            <a:endParaRPr lang="en-GB" sz="900" i="1" dirty="0">
              <a:solidFill>
                <a:schemeClr val="bg2">
                  <a:lumMod val="75000"/>
                </a:schemeClr>
              </a:solidFill>
            </a:endParaRPr>
          </a:p>
          <a:p>
            <a:endParaRPr lang="fr-FR" sz="1800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33" name="Groupe 32"/>
          <p:cNvGrpSpPr>
            <a:grpSpLocks noChangeAspect="1"/>
          </p:cNvGrpSpPr>
          <p:nvPr userDrawn="1"/>
        </p:nvGrpSpPr>
        <p:grpSpPr>
          <a:xfrm>
            <a:off x="0" y="6107679"/>
            <a:ext cx="2110862" cy="810296"/>
            <a:chOff x="4901062" y="-22311"/>
            <a:chExt cx="3717915" cy="1427196"/>
          </a:xfrm>
        </p:grpSpPr>
        <p:pic>
          <p:nvPicPr>
            <p:cNvPr id="34" name="Picture 2" descr="European Metrology Network for Climate and Ocean Observation | INRIM"/>
            <p:cNvPicPr>
              <a:picLocks noChangeAspect="1" noChangeArrowheads="1"/>
            </p:cNvPicPr>
            <p:nvPr userDrawn="1"/>
          </p:nvPicPr>
          <p:blipFill>
            <a:blip r:embed="rId6" cstate="hq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14178" y="83366"/>
              <a:ext cx="1210723" cy="12107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4" descr="Chemical Metrology | ΑΑΔΕ"/>
            <p:cNvPicPr>
              <a:picLocks noChangeAspect="1" noChangeArrowheads="1"/>
            </p:cNvPicPr>
            <p:nvPr userDrawn="1"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1062" y="-22311"/>
              <a:ext cx="1427196" cy="14271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Image 35"/>
            <p:cNvPicPr>
              <a:picLocks noChangeAspect="1"/>
            </p:cNvPicPr>
            <p:nvPr userDrawn="1"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522" y="23636"/>
              <a:ext cx="1272455" cy="1272455"/>
            </a:xfrm>
            <a:prstGeom prst="rect">
              <a:avLst/>
            </a:prstGeom>
          </p:spPr>
        </p:pic>
      </p:grpSp>
      <p:sp>
        <p:nvSpPr>
          <p:cNvPr id="37" name="Espace réservé pour une image  3"/>
          <p:cNvSpPr>
            <a:spLocks noGrp="1"/>
          </p:cNvSpPr>
          <p:nvPr>
            <p:ph type="pic" sz="quarter" idx="14" hasCustomPrompt="1"/>
          </p:nvPr>
        </p:nvSpPr>
        <p:spPr>
          <a:xfrm>
            <a:off x="7116332" y="6194190"/>
            <a:ext cx="1254125" cy="61888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aseline="0"/>
            </a:lvl1pPr>
          </a:lstStyle>
          <a:p>
            <a:r>
              <a:rPr lang="fr-FR" dirty="0" smtClean="0"/>
              <a:t>Put </a:t>
            </a:r>
            <a:r>
              <a:rPr lang="fr-FR" dirty="0" err="1" smtClean="0"/>
              <a:t>your</a:t>
            </a:r>
            <a:r>
              <a:rPr lang="fr-FR" dirty="0" smtClean="0"/>
              <a:t> institue logo </a:t>
            </a:r>
            <a:r>
              <a:rPr lang="fr-FR" dirty="0" err="1" smtClean="0"/>
              <a:t>here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0786865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c">
            <a:extLst>
              <a:ext uri="{FF2B5EF4-FFF2-40B4-BE49-F238E27FC236}">
                <a16:creationId xmlns:a16="http://schemas.microsoft.com/office/drawing/2014/main" id="{586B2412-C437-463C-8BA5-330A251E39D6}"/>
              </a:ext>
            </a:extLst>
          </p:cNvPr>
          <p:cNvSpPr txBox="1"/>
          <p:nvPr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endParaRPr kumimoji="0" lang="en-GB" sz="1000" b="0" i="0" u="none" baseline="0" dirty="0">
              <a:solidFill>
                <a:srgbClr val="7F7F7F"/>
              </a:solidFill>
              <a:latin typeface="Arial" panose="020B0604020202020204" pitchFamily="34" charset="0"/>
            </a:endParaRPr>
          </a:p>
        </p:txBody>
      </p:sp>
      <p:sp>
        <p:nvSpPr>
          <p:cNvPr id="3" name="fc">
            <a:extLst>
              <a:ext uri="{FF2B5EF4-FFF2-40B4-BE49-F238E27FC236}">
                <a16:creationId xmlns:a16="http://schemas.microsoft.com/office/drawing/2014/main" id="{B20CDC87-34BE-4B9A-BB7C-DB01716AEF37}"/>
              </a:ext>
            </a:extLst>
          </p:cNvPr>
          <p:cNvSpPr txBox="1"/>
          <p:nvPr/>
        </p:nvSpPr>
        <p:spPr>
          <a:xfrm>
            <a:off x="0" y="6491289"/>
            <a:ext cx="12192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endParaRPr kumimoji="0" lang="en-GB" sz="1000" b="0" i="0" u="none" baseline="0" dirty="0">
              <a:solidFill>
                <a:srgbClr val="7F7F7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532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</p:sldLayoutIdLst>
  <p:hf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-128"/>
          <a:cs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-128"/>
          <a:cs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-128"/>
          <a:cs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6787C"/>
                </a:solidFill>
              </a:rPr>
              <a:t>Noise track: group results</a:t>
            </a:r>
            <a:endParaRPr lang="fr-FR"/>
          </a:p>
          <a:p>
            <a:r>
              <a:rPr>
                <a:solidFill>
                  <a:srgbClr val="76787C"/>
                </a:solidFill>
              </a:rPr>
              <a:t>Machine learning for noise sensor calibration and drift detection</a:t>
            </a:r>
          </a:p>
          <a:p/>
          <a:p>
            <a:r>
              <a:t>Group: ...   Members: ...</a:t>
            </a:r>
          </a:p>
        </p:txBody>
      </p:sp>
    </p:spTree>
    <p:extLst>
      <p:ext uri="{BB962C8B-B14F-4D97-AF65-F5344CB8AC3E}">
        <p14:creationId xmlns:p14="http://schemas.microsoft.com/office/powerpoint/2010/main" val="694685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Noise track, EURAMET Autumn School 2026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B821-8AD3-4E68-AB16-E283C9169A48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4" name="Espace réservé pour une image  3"/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3366574240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/>
              <a:t>1. Data quality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B821-8AD3-4E68-AB16-E283C9169A48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609600" y="1508760"/>
            <a:ext cx="10607040" cy="30175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110000"/>
          <a:lstStyle/>
          <a:p>
            <a:pPr algn="l">
              <a:spcAft>
                <a:spcPts val="400"/>
              </a:spcAft>
            </a:pPr>
            <a:r>
              <a:rPr sz="1500" i="1">
                <a:solidFill>
                  <a:srgbClr val="6D6E71"/>
                </a:solidFill>
              </a:rPr>
              <a:t>Replace this text with your findings from notebook 00.</a:t>
            </a:r>
          </a:p>
          <a:p>
            <a:pPr algn="l">
              <a:spcAft>
                <a:spcPts val="400"/>
              </a:spcAft>
            </a:pPr>
            <a:r>
              <a:rPr sz="1500" i="1">
                <a:solidFill>
                  <a:srgbClr val="6D6E71"/>
                </a:solidFill>
              </a:rPr>
              <a:t>Clock and time stamps: ...</a:t>
            </a:r>
          </a:p>
          <a:p>
            <a:pPr algn="l">
              <a:spcAft>
                <a:spcPts val="400"/>
              </a:spcAft>
            </a:pPr>
            <a:r>
              <a:rPr sz="1500" i="1">
                <a:solidFill>
                  <a:srgbClr val="6D6E71"/>
                </a:solidFill>
              </a:rPr>
              <a:t>Gaps: ...</a:t>
            </a:r>
          </a:p>
          <a:p>
            <a:pPr algn="l">
              <a:spcAft>
                <a:spcPts val="400"/>
              </a:spcAft>
            </a:pPr>
            <a:r>
              <a:rPr sz="1500" i="1">
                <a:solidFill>
                  <a:srgbClr val="6D6E71"/>
                </a:solidFill>
              </a:rPr>
              <a:t>Low levels and noise floor: ...</a:t>
            </a:r>
          </a:p>
          <a:p>
            <a:pPr algn="l">
              <a:spcAft>
                <a:spcPts val="400"/>
              </a:spcAft>
            </a:pPr>
            <a:r>
              <a:rPr sz="1500" i="1">
                <a:solidFill>
                  <a:srgbClr val="6D6E71"/>
                </a:solidFill>
              </a:rPr>
              <a:t>Wind and rain: ...</a:t>
            </a:r>
          </a:p>
          <a:p>
            <a:pPr algn="l">
              <a:spcAft>
                <a:spcPts val="400"/>
              </a:spcAft>
            </a:pPr>
            <a:r>
              <a:rPr sz="1500" i="1">
                <a:solidFill>
                  <a:srgbClr val="6D6E71"/>
                </a:solidFill>
              </a:rPr>
              <a:t>Stability over time: 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/>
              <a:t>2. Calibration: our choices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B821-8AD3-4E68-AB16-E283C9169A48}" type="slidenum">
              <a:rPr lang="en-GB" smtClean="0"/>
              <a:pPr/>
              <a:t>2</a:t>
            </a:fld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508760"/>
          <a:ext cx="10607040" cy="2286000"/>
        </p:xfrm>
        <a:graphic>
          <a:graphicData uri="http://schemas.openxmlformats.org/drawingml/2006/table">
            <a:tbl>
              <a:tblPr firstRow="0" bandRow="0"/>
              <a:tblGrid>
                <a:gridCol w="1828800"/>
                <a:gridCol w="4114800"/>
                <a:gridCol w="46634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Choice</a:t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174A7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What we chose</a:t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174A7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174A7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74A7C"/>
                          </a:solidFill>
                        </a:rPr>
                        <a:t>Cleaning</a:t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74A7C"/>
                          </a:solidFill>
                        </a:rPr>
                        <a:t/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74A7C"/>
                          </a:solidFill>
                        </a:rPr>
                        <a:t/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74A7C"/>
                          </a:solidFill>
                        </a:rPr>
                        <a:t>Features</a:t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74A7C"/>
                          </a:solidFill>
                        </a:rPr>
                        <a:t/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74A7C"/>
                          </a:solidFill>
                        </a:rPr>
                        <a:t/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74A7C"/>
                          </a:solidFill>
                        </a:rPr>
                        <a:t>Model</a:t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74A7C"/>
                          </a:solidFill>
                        </a:rPr>
                        <a:t/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74A7C"/>
                          </a:solidFill>
                        </a:rPr>
                        <a:t/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74A7C"/>
                          </a:solidFill>
                        </a:rPr>
                        <a:t>Split</a:t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74A7C"/>
                          </a:solidFill>
                        </a:rPr>
                        <a:t/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74A7C"/>
                          </a:solidFill>
                        </a:rPr>
                        <a:t/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600" y="4069080"/>
          <a:ext cx="10607040" cy="731520"/>
        </p:xfrm>
        <a:graphic>
          <a:graphicData uri="http://schemas.openxmlformats.org/drawingml/2006/table">
            <a:tbl>
              <a:tblPr firstRow="0" bandRow="0"/>
              <a:tblGrid>
                <a:gridCol w="1828800"/>
                <a:gridCol w="1463040"/>
                <a:gridCol w="1463040"/>
                <a:gridCol w="1920240"/>
                <a:gridCol w="1920240"/>
                <a:gridCol w="20116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Best result</a:t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174A7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Node</a:t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174A7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174A7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RMSE (dB)</a:t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174A7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MBE (dB)</a:t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174A7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Within ±2 dB</a:t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174A7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74A7C"/>
                          </a:solidFill>
                        </a:rPr>
                        <a:t/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74A7C"/>
                          </a:solidFill>
                        </a:rPr>
                        <a:t/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74A7C"/>
                          </a:solidFill>
                        </a:rPr>
                        <a:t/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74A7C"/>
                          </a:solidFill>
                        </a:rPr>
                        <a:t/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74A7C"/>
                          </a:solidFill>
                        </a:rPr>
                        <a:t/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74A7C"/>
                          </a:solidFill>
                        </a:rPr>
                        <a:t/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/>
              <a:t>3. Drift detection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B821-8AD3-4E68-AB16-E283C9169A48}" type="slidenum">
              <a:rPr lang="en-GB" smtClean="0"/>
              <a:pPr/>
              <a:t>2</a:t>
            </a:fld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508760"/>
          <a:ext cx="10607040" cy="2194560"/>
        </p:xfrm>
        <a:graphic>
          <a:graphicData uri="http://schemas.openxmlformats.org/drawingml/2006/table">
            <a:tbl>
              <a:tblPr firstRow="0" bandRow="0"/>
              <a:tblGrid>
                <a:gridCol w="1005840"/>
                <a:gridCol w="1188720"/>
                <a:gridCol w="1828800"/>
                <a:gridCol w="1828800"/>
                <a:gridCol w="2103120"/>
                <a:gridCol w="265176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Node</a:t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174A7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Drift?</a:t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174A7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174A7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Start date</a:t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174A7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Size by 28 Dec</a:t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174A7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Found first by</a:t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174A7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74A7C"/>
                          </a:solidFill>
                        </a:rPr>
                        <a:t>N1</a:t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74A7C"/>
                          </a:solidFill>
                        </a:rPr>
                        <a:t/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74A7C"/>
                          </a:solidFill>
                        </a:rPr>
                        <a:t/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74A7C"/>
                          </a:solidFill>
                        </a:rPr>
                        <a:t/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74A7C"/>
                          </a:solidFill>
                        </a:rPr>
                        <a:t/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74A7C"/>
                          </a:solidFill>
                        </a:rPr>
                        <a:t/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74A7C"/>
                          </a:solidFill>
                        </a:rPr>
                        <a:t>N2</a:t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74A7C"/>
                          </a:solidFill>
                        </a:rPr>
                        <a:t/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74A7C"/>
                          </a:solidFill>
                        </a:rPr>
                        <a:t/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74A7C"/>
                          </a:solidFill>
                        </a:rPr>
                        <a:t/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74A7C"/>
                          </a:solidFill>
                        </a:rPr>
                        <a:t/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74A7C"/>
                          </a:solidFill>
                        </a:rPr>
                        <a:t/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74A7C"/>
                          </a:solidFill>
                        </a:rPr>
                        <a:t>N3</a:t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74A7C"/>
                          </a:solidFill>
                        </a:rPr>
                        <a:t/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74A7C"/>
                          </a:solidFill>
                        </a:rPr>
                        <a:t/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74A7C"/>
                          </a:solidFill>
                        </a:rPr>
                        <a:t/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74A7C"/>
                          </a:solidFill>
                        </a:rPr>
                        <a:t/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74A7C"/>
                          </a:solidFill>
                        </a:rPr>
                        <a:t/>
                      </a:r>
                    </a:p>
                  </a:txBody>
                  <a:tcPr marL="80000" marR="80000" marT="40000" marB="40000" anchor="ctr">
                    <a:lnB w="19050">
                      <a:solidFill>
                        <a:srgbClr val="FFFFFF"/>
                      </a:solidFill>
                    </a:lnB>
                    <a:lnT w="19050">
                      <a:solidFill>
                        <a:srgbClr val="FFFFFF"/>
                      </a:solidFill>
                    </a:lnT>
                    <a:lnR w="19050">
                      <a:solidFill>
                        <a:srgbClr val="FFFFFF"/>
                      </a:solidFill>
                    </a:lnR>
                    <a:lnL w="19050">
                      <a:solidFill>
                        <a:srgbClr val="FFFFFF"/>
                      </a:solidFill>
                    </a:lnL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09600" y="3886200"/>
            <a:ext cx="10607040" cy="6858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110000"/>
          <a:lstStyle/>
          <a:p>
            <a:pPr algn="l">
              <a:spcAft>
                <a:spcPts val="400"/>
              </a:spcAft>
            </a:pPr>
            <a:r>
              <a:rPr sz="1500" i="1">
                <a:solidFill>
                  <a:srgbClr val="6D6E71"/>
                </a:solidFill>
              </a:rPr>
              <a:t>Which method needs the reference? Which one works without it?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/>
              <a:t>4. What we would do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B821-8AD3-4E68-AB16-E283C9169A48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609600" y="1508760"/>
            <a:ext cx="10607040" cy="30175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110000"/>
          <a:lstStyle/>
          <a:p>
            <a:pPr algn="l">
              <a:spcAft>
                <a:spcPts val="400"/>
              </a:spcAft>
            </a:pPr>
            <a:r>
              <a:rPr sz="1500" i="1">
                <a:solidFill>
                  <a:srgbClr val="6D6E71"/>
                </a:solidFill>
              </a:rPr>
              <a:t>Action for each node: keep, correct, recalibrate or replace? ...</a:t>
            </a:r>
          </a:p>
          <a:p>
            <a:pPr algn="l">
              <a:spcAft>
                <a:spcPts val="400"/>
              </a:spcAft>
            </a:pPr>
            <a:r>
              <a:rPr sz="1500" i="1">
                <a:solidFill>
                  <a:srgbClr val="6D6E71"/>
                </a:solidFill>
              </a:rPr>
              <a:t>Recalibration interval for a node like N2, and what decides it: ...</a:t>
            </a:r>
          </a:p>
          <a:p>
            <a:pPr algn="l">
              <a:spcAft>
                <a:spcPts val="400"/>
              </a:spcAft>
            </a:pPr>
            <a:r>
              <a:rPr sz="1500" i="1">
                <a:solidFill>
                  <a:srgbClr val="6D6E71"/>
                </a:solidFill>
              </a:rPr>
              <a:t>Checks you would run every day or every week in a network: 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/>
              <a:t>5. Open questions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B821-8AD3-4E68-AB16-E283C9169A48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609600" y="1508760"/>
            <a:ext cx="10607040" cy="30175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0000" rIns="110000" tIns="110000"/>
          <a:lstStyle/>
          <a:p>
            <a:pPr algn="l">
              <a:spcAft>
                <a:spcPts val="400"/>
              </a:spcAft>
            </a:pPr>
            <a:r>
              <a:rPr sz="1500" i="1">
                <a:solidFill>
                  <a:srgbClr val="6D6E71"/>
                </a:solidFill>
              </a:rPr>
              <a:t>What surprised you? What would you test next?</a:t>
            </a:r>
          </a:p>
          <a:p>
            <a:pPr algn="l">
              <a:spcAft>
                <a:spcPts val="400"/>
              </a:spcAft>
            </a:pPr>
            <a:r>
              <a:rPr sz="1500" i="1">
                <a:solidFill>
                  <a:srgbClr val="6D6E71"/>
                </a:solidFill>
              </a:rPr>
              <a:t>How would you detect drift in a network where no node is next to a reference?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uramet">
  <a:themeElements>
    <a:clrScheme name="EURAMET">
      <a:dk1>
        <a:srgbClr val="174A7C"/>
      </a:dk1>
      <a:lt1>
        <a:sysClr val="window" lastClr="FFFFFF"/>
      </a:lt1>
      <a:dk2>
        <a:srgbClr val="6D6E71"/>
      </a:dk2>
      <a:lt2>
        <a:srgbClr val="9FA1A4"/>
      </a:lt2>
      <a:accent1>
        <a:srgbClr val="00A5D9"/>
      </a:accent1>
      <a:accent2>
        <a:srgbClr val="EF3E42"/>
      </a:accent2>
      <a:accent3>
        <a:srgbClr val="F1CB00"/>
      </a:accent3>
      <a:accent4>
        <a:srgbClr val="8DC63F"/>
      </a:accent4>
      <a:accent5>
        <a:srgbClr val="000000"/>
      </a:accent5>
      <a:accent6>
        <a:srgbClr val="7F3F98"/>
      </a:accent6>
      <a:hlink>
        <a:srgbClr val="00A5D9"/>
      </a:hlink>
      <a:folHlink>
        <a:srgbClr val="7F3F9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MN-ClimOc.potx" id="{D4C2F594-3990-476F-A493-3F6D6548EDD0}" vid="{E873D8E0-4CDD-464F-B6F5-4F263E4FE5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9F3E03B450B2458542635D3CF2D939" ma:contentTypeVersion="16" ma:contentTypeDescription="Crée un document." ma:contentTypeScope="" ma:versionID="d9ad4dbf831f0c4c0bef685e74d22765">
  <xsd:schema xmlns:xsd="http://www.w3.org/2001/XMLSchema" xmlns:xs="http://www.w3.org/2001/XMLSchema" xmlns:p="http://schemas.microsoft.com/office/2006/metadata/properties" xmlns:ns2="7014ceb5-bcef-474d-88fd-c3f8eaef233e" xmlns:ns3="fb3890d6-6994-43d9-874a-5fb2e54efe20" targetNamespace="http://schemas.microsoft.com/office/2006/metadata/properties" ma:root="true" ma:fieldsID="b34b27e48964c2ca3471e94901ce8a92" ns2:_="" ns3:_="">
    <xsd:import namespace="7014ceb5-bcef-474d-88fd-c3f8eaef233e"/>
    <xsd:import namespace="fb3890d6-6994-43d9-874a-5fb2e54efe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4ceb5-bcef-474d-88fd-c3f8eaef23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Balises d’images" ma:readOnly="false" ma:fieldId="{5cf76f15-5ced-4ddc-b409-7134ff3c332f}" ma:taxonomyMulti="true" ma:sspId="7a6eb470-00db-47ed-9961-774a87b50ed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3890d6-6994-43d9-874a-5fb2e54efe2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84b066a5-b9a6-4fb9-b233-d7dbc265d19e}" ma:internalName="TaxCatchAll" ma:showField="CatchAllData" ma:web="fb3890d6-6994-43d9-874a-5fb2e54efe2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014ceb5-bcef-474d-88fd-c3f8eaef233e">
      <Terms xmlns="http://schemas.microsoft.com/office/infopath/2007/PartnerControls"/>
    </lcf76f155ced4ddcb4097134ff3c332f>
    <TaxCatchAll xmlns="fb3890d6-6994-43d9-874a-5fb2e54efe2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FA83491-56AB-4BCE-BCC0-C2FDF7F62F91}"/>
</file>

<file path=customXml/itemProps2.xml><?xml version="1.0" encoding="utf-8"?>
<ds:datastoreItem xmlns:ds="http://schemas.openxmlformats.org/officeDocument/2006/customXml" ds:itemID="{9CE64622-EB6D-410B-AA49-E48D8174B5AD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9f4af431-5d7f-404d-835a-d7b5c482863b"/>
    <ds:schemaRef ds:uri="http://schemas.microsoft.com/sharepoint/v3"/>
    <ds:schemaRef ds:uri="4b741155-c63c-4612-bafa-bf3511293177"/>
    <ds:schemaRef ds:uri="http://www.w3.org/XML/1998/namespace"/>
    <ds:schemaRef ds:uri="http://purl.org/dc/dcmitype/"/>
    <ds:schemaRef ds:uri="7014ceb5-bcef-474d-88fd-c3f8eaef233e"/>
    <ds:schemaRef ds:uri="fb3890d6-6994-43d9-874a-5fb2e54efe20"/>
  </ds:schemaRefs>
</ds:datastoreItem>
</file>

<file path=customXml/itemProps3.xml><?xml version="1.0" encoding="utf-8"?>
<ds:datastoreItem xmlns:ds="http://schemas.openxmlformats.org/officeDocument/2006/customXml" ds:itemID="{C9E6C416-52D5-48A0-AD70-34CBEC4D5A9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2</Words>
  <Application>Microsoft Office PowerPoint</Application>
  <PresentationFormat>Grand écran</PresentationFormat>
  <Paragraphs>2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ＭＳ Ｐゴシック</vt:lpstr>
      <vt:lpstr>Arial</vt:lpstr>
      <vt:lpstr>Calibri</vt:lpstr>
      <vt:lpstr>Euramet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European Metrology Network for Climate and Ocean Observation</dc:title>
  <dc:creator>Emma Woolliams</dc:creator>
  <cp:lastModifiedBy>Diane Gumuchian</cp:lastModifiedBy>
  <cp:revision>147</cp:revision>
  <dcterms:created xsi:type="dcterms:W3CDTF">2019-05-01T09:37:43Z</dcterms:created>
  <dcterms:modified xsi:type="dcterms:W3CDTF">2026-09-15T13:42:07Z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ercoClassification">
    <vt:lpwstr>NPL Official</vt:lpwstr>
  </property>
  <property fmtid="{D5CDD505-2E9C-101B-9397-08002B2CF9AE}" pid="3" name="aliashPowerpointFooter">
    <vt:lpwstr/>
  </property>
  <property fmtid="{D5CDD505-2E9C-101B-9397-08002B2CF9AE}" pid="4" name="ContentTypeId">
    <vt:lpwstr>0x010100B69F3E03B450B2458542635D3CF2D939</vt:lpwstr>
  </property>
</Properties>
</file>